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7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68" r:id="rId14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498" y="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AnomalyGuard: Intelligent Login Security System</a:t>
            </a:r>
            <a:endParaRPr lang="en-US" sz="20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spcBef>
                <a:spcPts val="400"/>
              </a:spcBef>
            </a:pPr>
            <a:r>
              <a:rPr lang="en-IN" b="1" dirty="0"/>
              <a:t>Dr. Shikha Tuteja</a:t>
            </a:r>
            <a:endParaRPr lang="en-IN" dirty="0"/>
          </a:p>
          <a:p>
            <a:pPr algn="ctr">
              <a:spcBef>
                <a:spcPts val="400"/>
              </a:spcBef>
            </a:pPr>
            <a:r>
              <a:rPr lang="en-IN" sz="1400" dirty="0"/>
              <a:t> ( Associate Professor 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0D105BC3-EBF9-8745-33FD-6208713DB3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3123" y="3315880"/>
            <a:ext cx="4858576" cy="1813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228600">
              <a:buNone/>
            </a:pPr>
            <a:r>
              <a:rPr lang="en-IN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Kartik Sharma</a:t>
            </a:r>
            <a:r>
              <a:rPr lang="en-IN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2210991759</a:t>
            </a:r>
          </a:p>
          <a:p>
            <a:pPr marL="228600">
              <a:buNone/>
            </a:pPr>
            <a:r>
              <a:rPr lang="en-IN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Surajit </a:t>
            </a:r>
            <a:r>
              <a:rPr lang="en-IN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Duary</a:t>
            </a:r>
            <a:r>
              <a:rPr lang="en-IN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2211981420 </a:t>
            </a:r>
          </a:p>
          <a:p>
            <a:pPr indent="228600">
              <a:buNone/>
            </a:pPr>
            <a:r>
              <a:rPr lang="en-IN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Harsh Vardhan </a:t>
            </a:r>
            <a:r>
              <a:rPr lang="en-IN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Jasrotia</a:t>
            </a: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N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2210991626 </a:t>
            </a:r>
          </a:p>
          <a:p>
            <a:pPr indent="228600">
              <a:buNone/>
            </a:pPr>
            <a:r>
              <a:rPr lang="en-IN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Sarthak Sharma</a:t>
            </a:r>
            <a:r>
              <a:rPr lang="en-IN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 2210992265</a:t>
            </a:r>
          </a:p>
          <a:p>
            <a:pPr indent="228600">
              <a:buNone/>
            </a:pP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IN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Executive Summary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00" b="1" strike="noStrike" spc="-1">
                <a:solidFill>
                  <a:srgbClr val="000000"/>
                </a:solidFill>
                <a:latin typeface="Calibri"/>
              </a:rPr>
              <a:t>2</a:t>
            </a: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Project: AnomalyGuard — Intelligent Login Security System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Built a full-stack ML-powered login anomaly detection system using Isolation Forest and K-Means clustering algorithms.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analyzes 10 behavioral features per login event to detect threats in real-time.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Multi-Factor Authentication (MFA) is triggered only when genuine threats are detected, minimizing user friction.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Performance Highlights:</a:t>
            </a:r>
          </a:p>
          <a:p>
            <a:pPr marL="685800" lvl="1" indent="-2286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Accuracy: 92.0% (97.6% of research paper target)</a:t>
            </a:r>
          </a:p>
          <a:p>
            <a:pPr marL="685800" lvl="1" indent="-2286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Recall: 100% — Zero missed threats</a:t>
            </a:r>
          </a:p>
          <a:p>
            <a:pPr marL="685800" lvl="1" indent="-2286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F1 Score: 88.2% (exceeds target by +2.5%)</a:t>
            </a:r>
          </a:p>
          <a:p>
            <a:pPr marL="685800" lvl="1" indent="-2286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Latency: Less than 50ms — 4x faster than the 210ms target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Status: Production Ready | 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00" b="1" strike="noStrike" spc="-1">
                <a:solidFill>
                  <a:srgbClr val="000000"/>
                </a:solidFill>
                <a:latin typeface="Calibri"/>
              </a:rPr>
              <a:t>3</a:t>
            </a: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Full-Stack Technology Stack: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 Frontend (Port 3000):</a:t>
            </a:r>
          </a:p>
          <a:p>
            <a:pPr marL="685800" lvl="1" indent="-2286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 18, React Router v6, Axios, CSS Animations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Node.js Backend (Port 5000):</a:t>
            </a:r>
          </a:p>
          <a:p>
            <a:pPr marL="685800" lvl="1" indent="-2286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Express, MongoDB, JWT Authentication, Rate Limiting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ML Engine (Port 8000):</a:t>
            </a:r>
          </a:p>
          <a:p>
            <a:pPr marL="685800" lvl="1" indent="-2286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Flask, Isolation Forest, K-Means, scikit-learn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MongoDB Database (Port 27017):</a:t>
            </a:r>
          </a:p>
          <a:p>
            <a:pPr marL="685800" lvl="1" indent="-2286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Profiles, Login Events, Anomaly Alerts, Audit Trail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00" b="1" strike="noStrike" spc="-1">
                <a:solidFill>
                  <a:srgbClr val="000000"/>
                </a:solidFill>
                <a:latin typeface="Calibri"/>
              </a:rPr>
              <a:t>4</a:t>
            </a: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Algorithm: Hybrid Isolation Forest + K-Means Clustering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Importance Weights (10 behavioral features analyzed):</a:t>
            </a:r>
          </a:p>
          <a:p>
            <a:pPr marL="685800" lvl="1" indent="-2286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Geolocation: 31.2%</a:t>
            </a:r>
          </a:p>
          <a:p>
            <a:pPr marL="685800" lvl="1" indent="-2286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Hour of Day: 24.7%</a:t>
            </a:r>
          </a:p>
          <a:p>
            <a:pPr marL="685800" lvl="1" indent="-2286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 Fingerprint: 22.1%</a:t>
            </a:r>
          </a:p>
          <a:p>
            <a:pPr marL="685800" lvl="1" indent="-2286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 Reputation: 14.3%</a:t>
            </a:r>
          </a:p>
          <a:p>
            <a:pPr marL="685800" lvl="1" indent="-2286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Login Interval: 7.7%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 Configuration:</a:t>
            </a:r>
          </a:p>
          <a:p>
            <a:pPr marL="685800" lvl="1" indent="-2286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Isolation Forest: 150 estimators, 5% contamination rate</a:t>
            </a:r>
          </a:p>
          <a:p>
            <a:pPr marL="685800" lvl="1" indent="-2286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K-Means: 3 behavioral clusters per user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Thresholds: ALLOW (Score &gt; -0.35) | MFA (-0.35 to -0.55) | BLOCK (Score &lt; -0.55)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00" b="1" strike="noStrike" spc="-1">
                <a:solidFill>
                  <a:srgbClr val="000000"/>
                </a:solidFill>
                <a:latin typeface="Calibri"/>
              </a:rPr>
              <a:t>5</a:t>
            </a: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vs. Research Paper Targets:</a:t>
            </a:r>
          </a:p>
          <a:p>
            <a:pPr marL="685800" lvl="1" indent="-2286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Accuracy: 92.0% (Target: 94.3%) — Near Target</a:t>
            </a:r>
          </a:p>
          <a:p>
            <a:pPr marL="685800" lvl="1" indent="-2286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Recall: 100.0% (Target: 91.7%) — Exceeds by +8.3%</a:t>
            </a:r>
          </a:p>
          <a:p>
            <a:pPr marL="685800" lvl="1" indent="-2286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F1 Score: 88.2% (Target: 85.7%) — Exceeds by +2.5%</a:t>
            </a:r>
          </a:p>
          <a:p>
            <a:pPr marL="685800" lvl="1" indent="-2286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Latency: Less than 50ms (Target: 210ms) — 4x Faster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 (100 test scenarios):</a:t>
            </a:r>
          </a:p>
          <a:p>
            <a:pPr marL="685800" lvl="1" indent="-2286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True Positives (Threats Caught): 30 / 30</a:t>
            </a:r>
          </a:p>
          <a:p>
            <a:pPr marL="685800" lvl="1" indent="-2286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True Negatives (Normal Allowed): 62 / 70</a:t>
            </a:r>
          </a:p>
          <a:p>
            <a:pPr marL="685800" lvl="1" indent="-2286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False Negatives (Missed Threats): 0</a:t>
            </a:r>
          </a:p>
          <a:p>
            <a:pPr marL="685800" lvl="1" indent="-2286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False Positives (False Alarms): 8 / 70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MFA Logic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00" b="1" strike="noStrike" spc="-1">
                <a:solidFill>
                  <a:srgbClr val="000000"/>
                </a:solidFill>
                <a:latin typeface="Calibri"/>
              </a:rPr>
              <a:t>6</a:t>
            </a: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Intelligent Multi-Factor Authentication Workflow:</a:t>
            </a:r>
          </a:p>
          <a:p>
            <a:pPr marL="685800" lvl="1" indent="-2286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Login Attempt → Check if Baseline Exists → Evaluate ML Score → Check IP &amp; Device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MFA / Block is Triggered When:</a:t>
            </a:r>
          </a:p>
          <a:p>
            <a:pPr marL="685800" lvl="1" indent="-2286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Unknown IP Address or Device Fingerprint detected</a:t>
            </a:r>
          </a:p>
          <a:p>
            <a:pPr marL="685800" lvl="1" indent="-2286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Unknown Country / Geographic Location</a:t>
            </a:r>
          </a:p>
          <a:p>
            <a:pPr marL="685800" lvl="1" indent="-2286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 Night Login (1am – 5am)</a:t>
            </a:r>
          </a:p>
          <a:p>
            <a:pPr marL="685800" lvl="1" indent="-2286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 Failed Login Attempts</a:t>
            </a:r>
          </a:p>
          <a:p>
            <a:pPr marL="685800" lvl="1" indent="-2286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Impossible Travel Velocity detected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MFA is Skipped When:</a:t>
            </a:r>
          </a:p>
          <a:p>
            <a:pPr marL="685800" lvl="1" indent="-2286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 Login (Building Baseline mode)</a:t>
            </a:r>
          </a:p>
          <a:p>
            <a:pPr marL="685800" lvl="1" indent="-2286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Known IP and Known Device</a:t>
            </a:r>
          </a:p>
          <a:p>
            <a:pPr marL="685800" lvl="1" indent="-2286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Recent Login within 30 minutes</a:t>
            </a:r>
          </a:p>
          <a:p>
            <a:pPr marL="685800" lvl="1" indent="-2286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 ML Score (greater than -0.35)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Features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00" b="1" strike="noStrike" spc="-1">
                <a:solidFill>
                  <a:srgbClr val="000000"/>
                </a:solidFill>
                <a:latin typeface="Calibri"/>
              </a:rPr>
              <a:t>7</a:t>
            </a: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Enterprise-Grade Protection Features: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MFA: 6-digit OTP, 10-minute expiry, email delivery with rate limiting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Account Protection: bcrypt password hashing, JWT tokens, session management, account suspension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 IP Detection: External IP via ipify, works in local dev and detects VPN usage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 Fingerprinting: User-Agent, Screen resolution, Timezone, Language, Platform, Browser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Geolocation: Country, City, ISP, Latitude/Longitude, Proxy/VPN detection, Travel distance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Rate Limiting: Auth — 10 requests/15 minutes; API — 100 requests/minute; Anti-brute force protection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Achievements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00" b="1" strike="noStrike" spc="-1">
                <a:solidFill>
                  <a:srgbClr val="000000"/>
                </a:solidFill>
                <a:latin typeface="Calibri"/>
              </a:rPr>
              <a:t>8</a:t>
            </a: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Achievements:</a:t>
            </a:r>
          </a:p>
          <a:p>
            <a:pPr marL="685800" lvl="1" indent="-2286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92% Accuracy — 97.6% of the research paper target</a:t>
            </a:r>
          </a:p>
          <a:p>
            <a:pPr marL="685800" lvl="1" indent="-2286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100% Recall — Zero missed threats across all 100 test scenarios</a:t>
            </a:r>
          </a:p>
          <a:p>
            <a:pPr marL="685800" lvl="1" indent="-2286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88.2% F1 Score — Exceeds target by 2.5%</a:t>
            </a:r>
          </a:p>
          <a:p>
            <a:pPr marL="685800" lvl="1" indent="-2286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Less than 50ms Latency — 4x faster than the 210ms target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Contributions:</a:t>
            </a:r>
          </a:p>
          <a:p>
            <a:pPr marL="685800" lvl="1" indent="-2286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Novel Hybrid ML: Isolation Forest + K-Means combination</a:t>
            </a:r>
          </a:p>
          <a:p>
            <a:pPr marL="685800" lvl="1" indent="-2286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10-Dimensional behavioral feature vector per login</a:t>
            </a:r>
          </a:p>
          <a:p>
            <a:pPr marL="685800" lvl="1" indent="-2286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Novel feature importance weighting methodology</a:t>
            </a:r>
          </a:p>
          <a:p>
            <a:pPr marL="685800" lvl="1" indent="-2286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Real-world validation with 100 diverse test scenarios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Experience:</a:t>
            </a:r>
          </a:p>
          <a:p>
            <a:pPr marL="685800" lvl="1" indent="-2286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Seamless first login (baseline building mode), trusted device recognition, clear anomaly reason explanations, modern responsive dark-themed UI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Roadmap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00" b="1" strike="noStrike" spc="-1">
                <a:solidFill>
                  <a:srgbClr val="000000"/>
                </a:solidFill>
                <a:latin typeface="Calibri"/>
              </a:rPr>
              <a:t>9</a:t>
            </a: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Short-Term (1–3 Months):</a:t>
            </a:r>
          </a:p>
          <a:p>
            <a:pPr marL="685800" lvl="1" indent="-2286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SendGrid / AWS SES email integration</a:t>
            </a:r>
          </a:p>
          <a:p>
            <a:pPr marL="685800" lvl="1" indent="-2286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Login pattern visualization charts and geographic heatmaps</a:t>
            </a:r>
          </a:p>
          <a:p>
            <a:pPr marL="685800" lvl="1" indent="-2286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Adaptive thresholds per individual user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Mid-Term (3–6 Months):</a:t>
            </a:r>
          </a:p>
          <a:p>
            <a:pPr marL="685800" lvl="1" indent="-2286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SMS OTP and Authenticator app (TOTP) support</a:t>
            </a:r>
          </a:p>
          <a:p>
            <a:pPr marL="685800" lvl="1" indent="-2286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Risk-based authentication with 0–100 risk scores</a:t>
            </a:r>
          </a:p>
          <a:p>
            <a:pPr marL="685800" lvl="1" indent="-2286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Redis distributed rate limiting</a:t>
            </a:r>
          </a:p>
          <a:p>
            <a:pPr marL="685800" lvl="1" indent="-2286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Ensemble model: Random Forest + Isolation Forest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Long-Term (6–12 Months):</a:t>
            </a:r>
          </a:p>
          <a:p>
            <a:pPr marL="685800" lvl="1" indent="-2286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LSTM sequence analysis using Deep Learning</a:t>
            </a:r>
          </a:p>
          <a:p>
            <a:pPr marL="685800" lvl="1" indent="-2286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Federated privacy-preserving learning</a:t>
            </a:r>
          </a:p>
          <a:p>
            <a:pPr marL="685800" lvl="1" indent="-2286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Blockchain-based immutable audit logs</a:t>
            </a:r>
          </a:p>
          <a:p>
            <a:pPr marL="685800" lvl="1" indent="-2286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Cross-organization threat intelligence sharing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10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34703</TotalTime>
  <Words>847</Words>
  <Application>Microsoft Office PowerPoint</Application>
  <PresentationFormat>On-screen Show (4:3)</PresentationFormat>
  <Paragraphs>124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Kartik ‎Sharma</cp:lastModifiedBy>
  <cp:revision>2301</cp:revision>
  <dcterms:created xsi:type="dcterms:W3CDTF">2010-04-09T07:36:15Z</dcterms:created>
  <dcterms:modified xsi:type="dcterms:W3CDTF">2026-05-13T13:13:45Z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