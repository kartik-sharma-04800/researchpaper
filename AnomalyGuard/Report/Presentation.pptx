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55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245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972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7C3AED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🔐  PROJECT REPORT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AnomalyGuard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Login Security System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50292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37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ML-Based Anomaly Detection  •  Isolation Forest + K-Means  •  92%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PRODUCTION READY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640080"/>
            <a:ext cx="2286000" cy="3840480"/>
          </a:xfrm>
          <a:prstGeom prst="rect">
            <a:avLst/>
          </a:prstGeom>
          <a:solidFill>
            <a:srgbClr val="131D35">
              <a:alpha val="8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914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</a:rPr>
              <a:t>92%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1371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691640"/>
            <a:ext cx="1920240" cy="0"/>
          </a:xfrm>
          <a:prstGeom prst="line">
            <a:avLst/>
          </a:prstGeom>
          <a:noFill/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8105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75120" y="22677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Recall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2587752"/>
            <a:ext cx="1920240" cy="0"/>
          </a:xfrm>
          <a:prstGeom prst="line">
            <a:avLst/>
          </a:prstGeom>
          <a:noFill/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7066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</a:rPr>
              <a:t>&lt;50ms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675120" y="31638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Latency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3483864"/>
            <a:ext cx="1920240" cy="0"/>
          </a:xfrm>
          <a:prstGeom prst="line">
            <a:avLst/>
          </a:prstGeom>
          <a:noFill/>
          <a:ln w="635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60273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88.2%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675120" y="40599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F1 Score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</a:rPr>
              <a:t>01  /  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4864" cy="2560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61872"/>
            <a:ext cx="4069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ML-powered login anomaly detection system using Isolation Forest + K-Means algorithms. The system analyzes 10 behavioral features per login to detect threats in real-time, triggering smart Multi-Factor Authentication only when genuinely needed.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00600" y="1261872"/>
            <a:ext cx="1920240" cy="1170432"/>
          </a:xfrm>
          <a:prstGeom prst="rect">
            <a:avLst/>
          </a:prstGeom>
          <a:solidFill>
            <a:srgbClr val="131D35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350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00600" y="17007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Missed Threats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</a:rPr>
              <a:t>100% Recall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12280" y="1261872"/>
            <a:ext cx="1920240" cy="1170432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3350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17007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Detection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12280" y="2011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</a:rPr>
              <a:t>&lt;50ms Latency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2523744"/>
            <a:ext cx="1920240" cy="1170432"/>
          </a:xfrm>
          <a:prstGeom prst="rect">
            <a:avLst/>
          </a:prstGeom>
          <a:solidFill>
            <a:srgbClr val="131D35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96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0600" y="29626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Hybrid ML Engine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</a:rPr>
              <a:t>IF + K-Means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12280" y="2523744"/>
            <a:ext cx="1920240" cy="1170432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5968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12280" y="29626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MFA Logic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273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</a:rPr>
              <a:t>Minimal Friction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</a:rPr>
              <a:t>🎯  Status: Production Ready  |  License: MIT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3AED"/>
                </a:solidFill>
              </a:rPr>
              <a:t>02  /  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Technology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011680" cy="3547872"/>
          </a:xfrm>
          <a:prstGeom prst="rect">
            <a:avLst/>
          </a:prstGeom>
          <a:solidFill>
            <a:srgbClr val="131D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2011680" cy="502920"/>
          </a:xfrm>
          <a:prstGeom prst="rect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React Frontend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D4FF"/>
                </a:solidFill>
              </a:rPr>
              <a:t>Port 3000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React 18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57860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React Router v6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2369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36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Axios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89534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95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CSS Animations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31720" y="3072384"/>
            <a:ext cx="118872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294436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50592" y="1298448"/>
            <a:ext cx="2011680" cy="3547872"/>
          </a:xfrm>
          <a:prstGeom prst="rect">
            <a:avLst/>
          </a:prstGeom>
          <a:solidFill>
            <a:srgbClr val="131D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50592" y="1298448"/>
            <a:ext cx="2011680" cy="50292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450592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Node.js Backend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50592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C3AED"/>
                </a:solidFill>
              </a:rPr>
              <a:t>Port 5000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42032" y="1920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Express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42032" y="257860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MongoDB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42032" y="32369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3236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JWT Auth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42032" y="389534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2032" y="3895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Rate Limiting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62272" y="3072384"/>
            <a:ext cx="11887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294436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81144" y="1298448"/>
            <a:ext cx="2011680" cy="3547872"/>
          </a:xfrm>
          <a:prstGeom prst="rect">
            <a:avLst/>
          </a:prstGeom>
          <a:solidFill>
            <a:srgbClr val="131D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81144" y="1298448"/>
            <a:ext cx="2011680" cy="50292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81144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Python ML Engine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81144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</a:rPr>
              <a:t>Port 8000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72584" y="1920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72584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Flask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72584" y="257860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72584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Isolation Forest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72584" y="32369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72584" y="3236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K-Means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72584" y="389534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2584" y="3895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scikit-learn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92824" y="3072384"/>
            <a:ext cx="11887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11112" y="294436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711696" y="1298448"/>
            <a:ext cx="2011680" cy="3547872"/>
          </a:xfrm>
          <a:prstGeom prst="rect">
            <a:avLst/>
          </a:prstGeom>
          <a:solidFill>
            <a:srgbClr val="131D3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11696" y="1298448"/>
            <a:ext cx="2011680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6711696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MongoDB Database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711696" y="1609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9E0B"/>
                </a:solidFill>
              </a:rPr>
              <a:t>Port 27017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03136" y="19202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03136" y="1920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User Profiles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03136" y="2578608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03136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Login Events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03136" y="3236976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03136" y="32369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Anomaly Alerts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03136" y="3895344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0A0E1A">
              <a:alpha val="90000"/>
            </a:srgbClr>
          </a:solidFill>
          <a:ln w="635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03136" y="38953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</a:rPr>
              <a:t>Audit Trail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03  /  MACHINE LEARNING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+ K-Means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3474720"/>
          </a:xfrm>
          <a:prstGeom prst="rect">
            <a:avLst/>
          </a:prstGeom>
          <a:solidFill>
            <a:srgbClr val="131D35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Feature Importance Weights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Geolocation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18745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D4FF"/>
                </a:solidFill>
              </a:rPr>
              <a:t>31.2%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3474720" cy="12801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167128"/>
            <a:ext cx="2852928" cy="12801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Hour of Day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24048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7C3AED"/>
                </a:solidFill>
              </a:rPr>
              <a:t>24.7%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3474720" cy="12801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697480"/>
            <a:ext cx="2258568" cy="1280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352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Device Fingerprint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66160" y="29352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0B981"/>
                </a:solidFill>
              </a:rPr>
              <a:t>22.1%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227832"/>
            <a:ext cx="3474720" cy="12801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227832"/>
            <a:ext cx="2020824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465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IP Reputation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346557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</a:rPr>
              <a:t>14.3%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758184"/>
            <a:ext cx="3474720" cy="12801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758184"/>
            <a:ext cx="1307592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9959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Login Interval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9959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EF4444"/>
                </a:solidFill>
              </a:rPr>
              <a:t>7.7%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288536"/>
            <a:ext cx="3474720" cy="128016"/>
          </a:xfrm>
          <a:prstGeom prst="rect">
            <a:avLst/>
          </a:prstGeom>
          <a:solidFill>
            <a:srgbClr val="0F1629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4288536"/>
            <a:ext cx="704088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1298448"/>
            <a:ext cx="4114800" cy="1572768"/>
          </a:xfrm>
          <a:prstGeom prst="rect">
            <a:avLst/>
          </a:prstGeom>
          <a:solidFill>
            <a:srgbClr val="131D35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Algorithm Configuration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Isolation Forest  </a:t>
            </a:r>
            <a:r>
              <a:rPr lang="en-US" sz="1000" dirty="0">
                <a:solidFill>
                  <a:srgbClr val="94A3B8"/>
                </a:solidFill>
              </a:rPr>
              <a:t>150 estimators | 5% contamination rate
</a:t>
            </a:r>
            <a:r>
              <a:rPr lang="en-US" sz="1100" b="1" dirty="0">
                <a:solidFill>
                  <a:srgbClr val="10B981"/>
                </a:solidFill>
              </a:rPr>
              <a:t>K-Means Clustering  </a:t>
            </a:r>
            <a:r>
              <a:rPr lang="en-US" sz="1000" dirty="0">
                <a:solidFill>
                  <a:srgbClr val="94A3B8"/>
                </a:solidFill>
              </a:rPr>
              <a:t>3 behavioral clusters per user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017520"/>
            <a:ext cx="4114800" cy="1755648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Decision Thresholds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3547872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5478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ALLOW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70448" y="3547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Score &gt; -0.35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950208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9502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MFA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70448" y="3950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-0.35 to -0.55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4352544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EF4444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3525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70448" y="43525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Score &lt; -0.55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04  /  PERFORMANCE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vs Research Paper Targets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057400" cy="2103120"/>
          </a:xfrm>
          <a:prstGeom prst="rect">
            <a:avLst/>
          </a:prstGeom>
          <a:solidFill>
            <a:srgbClr val="131D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0574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</a:rPr>
              <a:t>92.0%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Target: 94.3%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00D4FF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</a:rPr>
              <a:t>✅ Near Target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0" y="1371600"/>
            <a:ext cx="2057400" cy="2103120"/>
          </a:xfrm>
          <a:prstGeom prst="rect">
            <a:avLst/>
          </a:prstGeom>
          <a:solidFill>
            <a:srgbClr val="131D3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371600"/>
            <a:ext cx="20574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508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</a:rPr>
              <a:t>100.0%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60320" y="2176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Target: 91.7%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97480" y="278892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9748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</a:rPr>
              <a:t>✅ Exceeds +8.3%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2057400" cy="2103120"/>
          </a:xfrm>
          <a:prstGeom prst="rect">
            <a:avLst/>
          </a:prstGeom>
          <a:solidFill>
            <a:srgbClr val="131D3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371600"/>
            <a:ext cx="20574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508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</a:rPr>
              <a:t>88.2%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54880" y="2176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F1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Target: 85.7%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278892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7C3AED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✅ Exceeds +2.5%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49440" y="1371600"/>
            <a:ext cx="2057400" cy="2103120"/>
          </a:xfrm>
          <a:prstGeom prst="rect">
            <a:avLst/>
          </a:prstGeom>
          <a:solidFill>
            <a:srgbClr val="131D3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1371600"/>
            <a:ext cx="20574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5087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&lt;50ms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949440" y="21762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Latency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49440" y="24871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Target: 210ms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086600" y="278892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08660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</a:rPr>
              <a:t>✅ 4× Faster!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8412480" cy="1170432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041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</a:rPr>
              <a:t>30 / 30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457200" y="43525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True Positives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(Threats Caught)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542032" y="4041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D4FF"/>
                </a:solidFill>
              </a:rPr>
              <a:t>62 / 70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2542032" y="43525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True Negatives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(Normal Allowed)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26864" y="4041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</a:rPr>
              <a:t>0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4626864" y="43525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False Negatives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(Missed Threats)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11696" y="4041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8 / 70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711696" y="435254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False Positives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(False Alarms)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4FF"/>
                </a:solidFill>
              </a:rPr>
              <a:t>05  /  SMART MFA LOGIC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Multi-Factor Authentication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131D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Login Attempt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94560" y="1623060"/>
            <a:ext cx="38404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32588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131D3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Has Baseline?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623060"/>
            <a:ext cx="384048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131D35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Check ML Score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1623060"/>
            <a:ext cx="384048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132588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131D35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Known IP + Device?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1920240"/>
            <a:ext cx="0" cy="5486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24688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83464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(First Login)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93008" y="19019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NO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0" y="1920240"/>
            <a:ext cx="0" cy="5486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78040" y="24688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(Trusted)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90688" y="1901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</a:rPr>
              <a:t>YES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127248"/>
            <a:ext cx="4160520" cy="1719072"/>
          </a:xfrm>
          <a:prstGeom prst="rect">
            <a:avLst/>
          </a:prstGeom>
          <a:solidFill>
            <a:srgbClr val="131D35"/>
          </a:solidFill>
          <a:ln w="1270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</a:rPr>
              <a:t>🚨  Triggers MFA / Block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" y="35478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⚠ Unknown IP Address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87168" y="354787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⚠ Unknown Device Fingerprint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" y="38770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⚠ Unknown Country/Location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87168" y="38770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⚠ Late Night Login (1am–5am)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" y="4206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⚠ Multiple Failed Attempts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87168" y="4206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</a:rPr>
              <a:t>⚠ Impossible Travel Velocity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127248"/>
            <a:ext cx="4114800" cy="1719072"/>
          </a:xfrm>
          <a:prstGeom prst="rect">
            <a:avLst/>
          </a:prstGeom>
          <a:solidFill>
            <a:srgbClr val="131D35"/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</a:rPr>
              <a:t>✅  Skips MFA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73168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✓ First Login (Building Baseline)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8770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✓ Known IP + Known Device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73168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✓ Recent Login (&lt; 30 min)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4535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</a:rPr>
              <a:t>✓ Clean ML Score (&gt; -0.35)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F4444"/>
                </a:solidFill>
              </a:rPr>
              <a:t>06  /  SECURITY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Protection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298448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54864" cy="12984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46304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49047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MFA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93852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6-digit OTP • 10-min expiry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Email delivery • Rate limited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1298448"/>
          </a:xfrm>
          <a:prstGeom prst="rect">
            <a:avLst/>
          </a:prstGeom>
          <a:solidFill>
            <a:srgbClr val="131D35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71600"/>
            <a:ext cx="54864" cy="12984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310128" y="146304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58768" y="149047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Account Protection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93852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bcrypt passwords • JWT tokens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Session management • Suspension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743200" cy="1298448"/>
          </a:xfrm>
          <a:prstGeom prst="rect">
            <a:avLst/>
          </a:prstGeom>
          <a:solidFill>
            <a:srgbClr val="131D35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71600"/>
            <a:ext cx="54864" cy="12984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46304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93408" y="149047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IP Detection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193852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External IP via ipify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Works in local dev • VPN detection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779776"/>
            <a:ext cx="2743200" cy="1298448"/>
          </a:xfrm>
          <a:prstGeom prst="rect">
            <a:avLst/>
          </a:prstGeom>
          <a:solidFill>
            <a:srgbClr val="131D35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79776"/>
            <a:ext cx="54864" cy="12984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28712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4128" y="28986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Device Fingerprint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346704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User-Agent + Screen + TZ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Language + Platform + Browser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2779776"/>
            <a:ext cx="2743200" cy="1298448"/>
          </a:xfrm>
          <a:prstGeom prst="rect">
            <a:avLst/>
          </a:prstGeom>
          <a:solidFill>
            <a:srgbClr val="131D35"/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779776"/>
            <a:ext cx="54864" cy="12984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3310128" y="28712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58768" y="28986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Geolocation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346704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Country • City • ISP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Lat/Long • Proxy/VPN • Distance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35040" y="2779776"/>
            <a:ext cx="2743200" cy="1298448"/>
          </a:xfrm>
          <a:prstGeom prst="rect">
            <a:avLst/>
          </a:prstGeom>
          <a:solidFill>
            <a:srgbClr val="131D35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779776"/>
            <a:ext cx="54864" cy="129844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6144768" y="287121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93408" y="289864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Rate Limiting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3346704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Auth: 10 req/15 min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API: 100 req/min • Anti-brute force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</a:rPr>
              <a:t>07  /  KEY ACHIEVEMENTS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743200" cy="3429000"/>
          </a:xfrm>
          <a:prstGeom prst="rect">
            <a:avLst/>
          </a:prstGeom>
          <a:solidFill>
            <a:srgbClr val="131D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2743200" cy="502920"/>
          </a:xfrm>
          <a:prstGeom prst="rect">
            <a:avLst/>
          </a:prstGeom>
          <a:solidFill>
            <a:srgbClr val="00D4FF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Performance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" y="1965960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92% Accuracy (97.6% of target)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624328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6243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100% Recall — Zero missed threats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3282696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88.2% F1 Score (exceeds target +2.5%)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3941064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9410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&lt;50ms Latency — 4× faster than target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353312"/>
            <a:ext cx="2743200" cy="3429000"/>
          </a:xfrm>
          <a:prstGeom prst="rect">
            <a:avLst/>
          </a:prstGeom>
          <a:solidFill>
            <a:srgbClr val="131D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353312"/>
            <a:ext cx="2743200" cy="502920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🔬 Research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01568" y="1965960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Hybrid ML: Isolation Forest + K-Means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01568" y="2624328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6243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10-Dimensional behavioral feature vector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01568" y="3282696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Novel feature importance weighting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01568" y="3941064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9410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Real-world validation (100 test scenarios)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1353312"/>
            <a:ext cx="2743200" cy="3429000"/>
          </a:xfrm>
          <a:prstGeom prst="rect">
            <a:avLst/>
          </a:prstGeom>
          <a:solidFill>
            <a:srgbClr val="131D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1353312"/>
            <a:ext cx="2743200" cy="502920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User Experience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27648" y="1965960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1965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Seamless first login (baseline mode)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27648" y="2624328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26243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Trusted device recognition (no repeat MFA)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27648" y="3282696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28269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Clear anomaly reason explanations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27648" y="3941064"/>
            <a:ext cx="2523744" cy="548640"/>
          </a:xfrm>
          <a:prstGeom prst="rect">
            <a:avLst/>
          </a:prstGeom>
          <a:solidFill>
            <a:srgbClr val="0A0E1A">
              <a:alpha val="80000"/>
            </a:srgbClr>
          </a:solidFill>
          <a:ln w="635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394106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✅  Modern responsive dark-themed UI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3AED"/>
                </a:solidFill>
              </a:rPr>
              <a:t>08  /  FUTURE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Enhancements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2743200" cy="3429000"/>
          </a:xfrm>
          <a:prstGeom prst="rect">
            <a:avLst/>
          </a:prstGeom>
          <a:solidFill>
            <a:srgbClr val="131D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2743200" cy="548640"/>
          </a:xfrm>
          <a:prstGeom prst="rect">
            <a:avLst/>
          </a:prstGeom>
          <a:solidFill>
            <a:srgbClr val="00D4FF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Short-Term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</a:rPr>
              <a:t>1–3 Months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2267712"/>
            <a:ext cx="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212848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08483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SendGrid/AWS SES email integration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2926080"/>
            <a:ext cx="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871216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7432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Login pattern visualization charts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3584448"/>
            <a:ext cx="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529584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40156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Geographic heatmaps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4242816"/>
            <a:ext cx="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4187952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05993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Adaptive thresholds per user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1353312"/>
            <a:ext cx="2743200" cy="3429000"/>
          </a:xfrm>
          <a:prstGeom prst="rect">
            <a:avLst/>
          </a:prstGeom>
          <a:solidFill>
            <a:srgbClr val="131D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353312"/>
            <a:ext cx="2743200" cy="548640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Mid-Term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3AED"/>
                </a:solidFill>
              </a:rPr>
              <a:t>3–6 Months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47872" y="2267712"/>
            <a:ext cx="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3008" y="221284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3730752" y="208483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SMS OTP + Authenticator app (TOTP)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47872" y="2926080"/>
            <a:ext cx="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93008" y="287121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3730752" y="27432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Risk-based auth (0–100 risk scores)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47872" y="3584448"/>
            <a:ext cx="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93008" y="352958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3730752" y="340156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Redis distributed rate limiting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47872" y="4242816"/>
            <a:ext cx="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418795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3730752" y="405993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Ensemble: RF + Isolation Forest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1353312"/>
            <a:ext cx="2743200" cy="3429000"/>
          </a:xfrm>
          <a:prstGeom prst="rect">
            <a:avLst/>
          </a:prstGeom>
          <a:solidFill>
            <a:srgbClr val="131D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1353312"/>
            <a:ext cx="2743200" cy="548640"/>
          </a:xfrm>
          <a:prstGeom prst="rect">
            <a:avLst/>
          </a:prstGeom>
          <a:solidFill>
            <a:srgbClr val="10B981">
              <a:alpha val="7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Long-Term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1792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</a:rPr>
              <a:t>6–12 Months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73952" y="2267712"/>
            <a:ext cx="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19088" y="221284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656832" y="2084832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LSTM sequence analysis (Deep Learning)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73952" y="2926080"/>
            <a:ext cx="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19088" y="287121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656832" y="274320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Federated privacy-preserving learning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73952" y="3584448"/>
            <a:ext cx="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9088" y="352958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9" name="Text 47"/>
          <p:cNvSpPr/>
          <p:nvPr/>
        </p:nvSpPr>
        <p:spPr>
          <a:xfrm>
            <a:off x="6656832" y="3401568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Blockchain immutable audit logs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473952" y="4242816"/>
            <a:ext cx="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19088" y="41879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6656832" y="405993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Cross-org threat intelligence sharing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2743200" cy="2743200"/>
          </a:xfrm>
          <a:prstGeom prst="ellipse">
            <a:avLst/>
          </a:prstGeom>
          <a:solidFill>
            <a:srgbClr val="00D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</a:rPr>
              <a:t>AnomalyGuard — Keeping Every Login Safe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737360" cy="1097280"/>
          </a:xfrm>
          <a:prstGeom prst="rect">
            <a:avLst/>
          </a:prstGeom>
          <a:solidFill>
            <a:srgbClr val="131D35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</a:rPr>
              <a:t>92%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364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1737360" cy="1097280"/>
          </a:xfrm>
          <a:prstGeom prst="rect">
            <a:avLst/>
          </a:prstGeom>
          <a:solidFill>
            <a:srgbClr val="131D3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</a:rPr>
              <a:t>100%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43200" y="3364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1737360" cy="1097280"/>
          </a:xfrm>
          <a:prstGeom prst="rect">
            <a:avLst/>
          </a:prstGeom>
          <a:solidFill>
            <a:srgbClr val="131D35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</a:rPr>
              <a:t>&lt;50ms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3364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Latency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2743200"/>
            <a:ext cx="1737360" cy="1097280"/>
          </a:xfrm>
          <a:prstGeom prst="rect">
            <a:avLst/>
          </a:prstGeom>
          <a:solidFill>
            <a:srgbClr val="131D35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</a:rPr>
              <a:t>Zero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3364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Missed Threats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4069080"/>
            <a:ext cx="4572000" cy="0"/>
          </a:xfrm>
          <a:prstGeom prst="line">
            <a:avLst/>
          </a:prstGeom>
          <a:noFill/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879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Production Ready  ✅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</Words>
  <Application>Microsoft Office PowerPoint</Application>
  <PresentationFormat>On-screen Show (16:9)</PresentationFormat>
  <Paragraphs>222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AnomalyGuard - ML-Based Login Anomaly Detection</dc:title>
  <dc:subject>PptxGenJS Presentation</dc:subject>
  <dc:creator>Kartik Sharma</dc:creator>
  <cp:lastModifiedBy>Kartik ‎Sharma</cp:lastModifiedBy>
  <cp:revision>2</cp:revision>
  <dcterms:created xsi:type="dcterms:W3CDTF">2026-04-27T11:15:11Z</dcterms:created>
  <dcterms:modified xsi:type="dcterms:W3CDTF">2026-04-27T11:49:26Z</dcterms:modified>
</cp:coreProperties>
</file>